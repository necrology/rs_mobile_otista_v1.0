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EB3A8"/>
          </a:solidFill>
          <a:ln w="12700">
            <a:solidFill>
              <a:srgbClr val="3EB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8890">
            <a:solidFill>
              <a:srgbClr val="D8E1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4710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78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SIPANTES • RSUD OTISTA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A45"/>
          </a:solidFill>
          <a:ln w="12700">
            <a:solidFill>
              <a:srgbClr val="0B4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9800000">
            <a:off x="-1463040" y="3931920"/>
            <a:ext cx="6400800" cy="4114800"/>
          </a:xfrm>
          <a:prstGeom prst="arc">
            <a:avLst/>
          </a:prstGeom>
          <a:solidFill>
            <a:srgbClr val="3EB3A8">
              <a:alpha val="40000"/>
            </a:srgbClr>
          </a:solidFill>
          <a:ln w="12700">
            <a:solidFill>
              <a:srgbClr val="3EB3A8">
                <a:alpha val="0"/>
              </a:srgbClr>
            </a:solidFill>
            <a:prstDash val="solid"/>
          </a:ln>
        </p:spPr>
      </p:sp>
      <p:pic>
        <p:nvPicPr>
          <p:cNvPr id="4" name="Image 0" descr="D:\source\flutter\rs_mobile_otista_v1.0\assets\images\otista\rsud_full_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75488"/>
            <a:ext cx="2011680" cy="749808"/>
          </a:xfrm>
          <a:prstGeom prst="rect">
            <a:avLst/>
          </a:prstGeom>
        </p:spPr>
      </p:pic>
      <p:pic>
        <p:nvPicPr>
          <p:cNvPr id="5" name="Image 1" descr="D:\source\flutter\rs_mobile_otista_v1.0\assets\images\otista\pemkab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493776"/>
            <a:ext cx="502920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57276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8FD8D1"/>
                </a:solidFill>
              </a:rPr>
              <a:t>PRESENTASI PRODUK • BUILD EMULATOR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58368" y="1956816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SIPANTES</a:t>
            </a:r>
            <a:endParaRPr lang="en-US" sz="4200" dirty="0"/>
          </a:p>
        </p:txBody>
      </p:sp>
      <p:sp>
        <p:nvSpPr>
          <p:cNvPr id="8" name="Text 4"/>
          <p:cNvSpPr/>
          <p:nvPr/>
        </p:nvSpPr>
        <p:spPr>
          <a:xfrm>
            <a:off x="694944" y="2761488"/>
            <a:ext cx="5577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Sistem Pendaftaran Terintegrasi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RSUD Oto Iskandar Di Nata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694944" y="391363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CE8"/>
                </a:solidFill>
              </a:rPr>
              <a:t>Panduan lengkap seluruh fitur aplikasi mobile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94944" y="4800600"/>
            <a:ext cx="3291840" cy="438912"/>
          </a:xfrm>
          <a:prstGeom prst="roundRect">
            <a:avLst>
              <a:gd name="adj" fmla="val 125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96112" y="492861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Versi 1.0 • Snapshot 5 Oktober 2026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330184" y="448056"/>
            <a:ext cx="2744607" cy="5797296"/>
          </a:xfrm>
          <a:prstGeom prst="roundRect">
            <a:avLst>
              <a:gd name="adj" fmla="val 3998"/>
            </a:avLst>
          </a:prstGeom>
          <a:solidFill>
            <a:srgbClr val="172D2B"/>
          </a:solidFill>
          <a:ln w="12700">
            <a:solidFill>
              <a:srgbClr val="172D2B"/>
            </a:solidFill>
            <a:prstDash val="solid"/>
          </a:ln>
          <a:effectLst>
            <a:outerShdw sx="100000" sy="100000" kx="0" ky="0" algn="bl" rotWithShape="0" blurRad="25400" dist="50800" dir="2700000">
              <a:srgbClr val="6A7775">
                <a:alpha val="22000"/>
              </a:srgbClr>
            </a:outerShdw>
          </a:effectLst>
        </p:spPr>
      </p:sp>
      <p:pic>
        <p:nvPicPr>
          <p:cNvPr id="13" name="Image 2" descr="D:\source\flutter\rs_mobile_otista_v1.0\docs\presentation_assets\01_berand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512064"/>
            <a:ext cx="261659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TUJUAN APLIKASI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SIPANTES dalam satu pandangan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621792" y="1481328"/>
            <a:ext cx="108356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23B38"/>
                </a:solidFill>
              </a:rPr>
              <a:t>Satu pintu digital untuk informasi rumah sakit, identitas pasien, layanan medis personal, pendaftaran poli, dan pemantauan antrian.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21792" y="2121408"/>
            <a:ext cx="5344668" cy="1737360"/>
          </a:xfrm>
          <a:prstGeom prst="roundRect">
            <a:avLst>
              <a:gd name="adj" fmla="val 4211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" y="224028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Informasi publik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" y="2560320"/>
            <a:ext cx="50520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Poli, dokter, jadwal, kamar, profil RS, jam layanan, alamat, kontak, dan fasilitas.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112764" y="2121408"/>
            <a:ext cx="53446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59068" y="224028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Akun pasien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59068" y="2560320"/>
            <a:ext cx="50520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Registrasi, login dua langkah dengan OTP, reset password, sesi tersimpan aman, dan logout.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621792" y="3995928"/>
            <a:ext cx="5344668" cy="1737360"/>
          </a:xfrm>
          <a:prstGeom prst="roundRect">
            <a:avLst>
              <a:gd name="adj" fmla="val 4211"/>
            </a:avLst>
          </a:prstGeom>
          <a:solidFill>
            <a:srgbClr val="EAF0F8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8096" y="411480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Data personal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8096" y="4434840"/>
            <a:ext cx="50520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Profil pasien, kunjungan, diagnosis/tindakan, laboratorium, radiologi, resep, serta resume PDF.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6112764" y="3995928"/>
            <a:ext cx="5344668" cy="1737360"/>
          </a:xfrm>
          <a:prstGeom prst="roundRect">
            <a:avLst>
              <a:gd name="adj" fmla="val 4211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59068" y="411480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Pendaftaran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59068" y="4434840"/>
            <a:ext cx="50520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Booking umum berbasis No. RM; jalur BPJS diarahkan ke Mobile JKN untuk mencegah booking ganda.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594360" y="5815584"/>
            <a:ext cx="10835640" cy="512064"/>
          </a:xfrm>
          <a:prstGeom prst="roundRect">
            <a:avLst>
              <a:gd name="adj" fmla="val 8929"/>
            </a:avLst>
          </a:prstGeom>
          <a:solidFill>
            <a:srgbClr val="FFF3DD"/>
          </a:solidFill>
          <a:ln w="10160">
            <a:solidFill>
              <a:srgbClr val="E5CB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5925312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3B38"/>
                </a:solidFill>
              </a:rPr>
              <a:t>Nilai utama: pengguna dapat melihat layanan publik tanpa login, lalu membuka data personal setelah akun dan No. RM terverifikasi.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HAK AKSES &amp; PRASYARAT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Model akses: tiga tingkat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21792" y="1435608"/>
            <a:ext cx="3514344" cy="2286000"/>
          </a:xfrm>
          <a:prstGeom prst="roundRect">
            <a:avLst>
              <a:gd name="adj" fmla="val 3200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554480"/>
            <a:ext cx="322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1 — Tamu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1874520"/>
            <a:ext cx="322173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Beranda, pencarian menu, Poli &amp; Jadwal, informasi RS, alamat/Maps, website, kontak, dan ketersediaan kamar.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4282440" y="1435608"/>
            <a:ext cx="351434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28744" y="1554480"/>
            <a:ext cx="322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2 — Akun aktif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28744" y="1874520"/>
            <a:ext cx="322173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Profil akun, kebijakan privasi, logout, penghapusan akun, serta proses untuk menghubungkan No. RM.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7943088" y="1435608"/>
            <a:ext cx="3514344" cy="2286000"/>
          </a:xfrm>
          <a:prstGeom prst="roundRect">
            <a:avLst>
              <a:gd name="adj" fmla="val 3200"/>
            </a:avLst>
          </a:prstGeom>
          <a:solidFill>
            <a:srgbClr val="EAF0F8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89392" y="1554480"/>
            <a:ext cx="322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3 — No. RM terhubung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89392" y="1874520"/>
            <a:ext cx="322173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Seluruh layanan medis personal, booking umum, serta history nomor antrian untuk pasien yang aktif.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58368" y="3922776"/>
            <a:ext cx="10789920" cy="23682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Fitur yang membutuhkan login menampilkan lembar “Fitur ini memerlukan login”.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Fitur medis dan booking memeriksa No. RM; jika kosong, pengguna diarahkan ke “Hubungkan No. RM”.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Data personal selalu dibatasi ke identitas pasien yang terkait dengan sesi akun.</a:t>
            </a:r>
            <a:endParaRPr lang="en-US" sz="14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5 AKSI DI BOTTOM NAVIGATION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Navigasi utama aplikasi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21792" y="1435608"/>
            <a:ext cx="2050085" cy="3611880"/>
          </a:xfrm>
          <a:prstGeom prst="roundRect">
            <a:avLst>
              <a:gd name="adj" fmla="val 3568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554480"/>
            <a:ext cx="17574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4A45"/>
                </a:solidFill>
              </a:rPr>
              <a:t>Beranda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68096" y="1874520"/>
            <a:ext cx="1757477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23B38"/>
                </a:solidFill>
              </a:rPr>
              <a:t>Pusat pintasan seluruh layanan dan kolom pencarian.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18181" y="1435608"/>
            <a:ext cx="2050085" cy="3611880"/>
          </a:xfrm>
          <a:prstGeom prst="roundRect">
            <a:avLst>
              <a:gd name="adj" fmla="val 3568"/>
            </a:avLst>
          </a:prstGeom>
          <a:solidFill>
            <a:srgbClr val="FFFFFF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64485" y="1554480"/>
            <a:ext cx="17574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4A45"/>
                </a:solidFill>
              </a:rPr>
              <a:t>Booking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964485" y="1874520"/>
            <a:ext cx="1757477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23B38"/>
                </a:solidFill>
              </a:rPr>
              <a:t>Antrian Umum: tab Buat dan tab Saya.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14570" y="1435608"/>
            <a:ext cx="2050085" cy="3611880"/>
          </a:xfrm>
          <a:prstGeom prst="roundRect">
            <a:avLst>
              <a:gd name="adj" fmla="val 3568"/>
            </a:avLst>
          </a:prstGeom>
          <a:solidFill>
            <a:srgbClr val="EAF0F8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60874" y="1554480"/>
            <a:ext cx="17574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4A45"/>
                </a:solidFill>
              </a:rPr>
              <a:t>Antrian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160874" y="1874520"/>
            <a:ext cx="1757477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23B38"/>
                </a:solidFill>
              </a:rPr>
              <a:t>Aksi tengah untuk memilih Registrasi Umum atau Antrian BPJS.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210958" y="1435608"/>
            <a:ext cx="2050085" cy="3611880"/>
          </a:xfrm>
          <a:prstGeom prst="roundRect">
            <a:avLst>
              <a:gd name="adj" fmla="val 3568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57262" y="1554480"/>
            <a:ext cx="17574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4A45"/>
                </a:solidFill>
              </a:rPr>
              <a:t>Poli &amp; Jadwal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57262" y="1874520"/>
            <a:ext cx="1757477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23B38"/>
                </a:solidFill>
              </a:rPr>
              <a:t>Direktori publik poli, jadwal praktik, kuota, dan dokter.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407347" y="1435608"/>
            <a:ext cx="2050085" cy="3611880"/>
          </a:xfrm>
          <a:prstGeom prst="roundRect">
            <a:avLst>
              <a:gd name="adj" fmla="val 3568"/>
            </a:avLst>
          </a:prstGeom>
          <a:solidFill>
            <a:srgbClr val="FFFFFF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53651" y="1554480"/>
            <a:ext cx="17574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4A45"/>
                </a:solidFill>
              </a:rPr>
              <a:t>Profil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553651" y="1874520"/>
            <a:ext cx="1757477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23B38"/>
                </a:solidFill>
              </a:rPr>
              <a:t>Status akun, No. RM, privasi, penghapusan akun, dan logout.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5815584"/>
            <a:ext cx="10835640" cy="512064"/>
          </a:xfrm>
          <a:prstGeom prst="roundRect">
            <a:avLst>
              <a:gd name="adj" fmla="val 8929"/>
            </a:avLst>
          </a:prstGeom>
          <a:solidFill>
            <a:srgbClr val="FFF3DD"/>
          </a:solidFill>
          <a:ln w="10160">
            <a:solidFill>
              <a:srgbClr val="E5CB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5925312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3B38"/>
                </a:solidFill>
              </a:rPr>
              <a:t>Halaman memakai IndexedStack: posisi setiap tab tetap dipertahankan ketika pengguna berpindah menu.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PUSAT AKSES FITUR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Beranda &amp; pencarian layanan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125712" y="1014984"/>
            <a:ext cx="2567354" cy="5413248"/>
          </a:xfrm>
          <a:prstGeom prst="roundRect">
            <a:avLst>
              <a:gd name="adj" fmla="val 4274"/>
            </a:avLst>
          </a:prstGeom>
          <a:solidFill>
            <a:srgbClr val="172D2B"/>
          </a:solidFill>
          <a:ln w="12700">
            <a:solidFill>
              <a:srgbClr val="172D2B"/>
            </a:solidFill>
            <a:prstDash val="solid"/>
          </a:ln>
          <a:effectLst>
            <a:outerShdw sx="100000" sy="100000" kx="0" ky="0" algn="bl" rotWithShape="0" blurRad="25400" dist="50800" dir="2700000">
              <a:srgbClr val="6A7775">
                <a:alpha val="22000"/>
              </a:srgbClr>
            </a:outerShdw>
          </a:effectLst>
        </p:spPr>
      </p:sp>
      <p:pic>
        <p:nvPicPr>
          <p:cNvPr id="6" name="Image 0" descr="D:\source\flutter\rs_mobile_otista_v1.0\docs\presentation_assets\01_beran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078992"/>
            <a:ext cx="2439338" cy="5285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481328"/>
            <a:ext cx="790956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23B38"/>
                </a:solidFill>
              </a:rPr>
              <a:t>Beranda menampilkan status akun, sapaan pengguna, tautan cepat, kolom pencarian, dan 16 pintasan layanan.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58368" y="2121408"/>
            <a:ext cx="7982712" cy="41696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Tautan “Soreang (Maps)” membuka aplikasi peta; “Website Resmi” membuka situs rumah sakit.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Kolom “Cari menu atau layanan pasien…” mencari judul, deskripsi, kategori, rincian, dan tautan.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Tarik ke bawah untuk memuat ulang; tersedia empty state dan tombol Muat Ulang jika terjadi error.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Ikon kunci digunakan ketika fitur personal dibuka oleh pengguna yang belum login.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AUTENTIKASI BERBASIS OTP EMAIL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Login, registrasi, dan lupa password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21792" y="1435608"/>
            <a:ext cx="3514344" cy="2286000"/>
          </a:xfrm>
          <a:prstGeom prst="roundRect">
            <a:avLst>
              <a:gd name="adj" fmla="val 3200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554480"/>
            <a:ext cx="322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Login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1874520"/>
            <a:ext cx="322173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Masukkan email atau No. RM yang sudah terhubung + password → kirim OTP → verifikasi OTP 6 digit. OTP berlaku 5 menit.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4282440" y="1435608"/>
            <a:ext cx="351434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28744" y="1554480"/>
            <a:ext cx="322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Registrasi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28744" y="1874520"/>
            <a:ext cx="322173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Nama lengkap, email, telepon, dan password 8–72 karakter berisi huruf serta angka → OTP email → aktivasi akun.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7943088" y="1435608"/>
            <a:ext cx="3514344" cy="2286000"/>
          </a:xfrm>
          <a:prstGeom prst="roundRect">
            <a:avLst>
              <a:gd name="adj" fmla="val 3200"/>
            </a:avLst>
          </a:prstGeom>
          <a:solidFill>
            <a:srgbClr val="EAF0F8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89392" y="1554480"/>
            <a:ext cx="322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Lupa password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89392" y="1874520"/>
            <a:ext cx="322173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Masukkan email → terima OTP reset → masukkan OTP dan password baru → kembali login.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58368" y="3922776"/>
            <a:ext cx="10789920" cy="23682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Pesan permintaan tidak mengungkapkan apakah email terdaftar; pengguna diminta memeriksa Inbox/Spam.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Jika akun sudah terdaftar saat registrasi, dialog menawarkan Login atau Lupa Password.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Sesi memakai Bearer access/refresh token dan dimuat kembali saat aplikasi dibuka.</a:t>
            </a:r>
            <a:endParaRPr lang="en-US" sz="14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JEMBATAN AKUN MOBILE KE DATA PASIEN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Hubungkan atau ubah No. Rekam Medis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125712" y="1014984"/>
            <a:ext cx="2567354" cy="5413248"/>
          </a:xfrm>
          <a:prstGeom prst="roundRect">
            <a:avLst>
              <a:gd name="adj" fmla="val 4274"/>
            </a:avLst>
          </a:prstGeom>
          <a:solidFill>
            <a:srgbClr val="172D2B"/>
          </a:solidFill>
          <a:ln w="12700">
            <a:solidFill>
              <a:srgbClr val="172D2B"/>
            </a:solidFill>
            <a:prstDash val="solid"/>
          </a:ln>
          <a:effectLst>
            <a:outerShdw sx="100000" sy="100000" kx="0" ky="0" algn="bl" rotWithShape="0" blurRad="25400" dist="50800" dir="2700000">
              <a:srgbClr val="6A7775">
                <a:alpha val="22000"/>
              </a:srgbClr>
            </a:outerShdw>
          </a:effectLst>
        </p:spPr>
      </p:sp>
      <p:pic>
        <p:nvPicPr>
          <p:cNvPr id="6" name="Image 0" descr="D:\source\flutter\rs_mobile_otista_v1.0\docs\presentation_assets\06_hubungkan_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078992"/>
            <a:ext cx="2439338" cy="5285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481328"/>
            <a:ext cx="790956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23B38"/>
                </a:solidFill>
              </a:rPr>
              <a:t>Pengaitan No. RM membuka seluruh data medis personal dan proses booking umum.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58368" y="2121408"/>
            <a:ext cx="7982712" cy="35295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Isi No. RM, NIK 16 digit, tanggal lahir, dan password akun.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Sistem meminta verifikasi awal lalu mengirim OTP ke email akun.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Masukkan OTP email dan pilih “Verifikasi No. RM”.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Alur yang sama digunakan untuk mengganti No. RM yang sudah terhubung.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Validasi mencegah kolom kosong, NIK tidak 16 digit, dan OTP kosong.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594360" y="5815584"/>
            <a:ext cx="8001000" cy="512064"/>
          </a:xfrm>
          <a:prstGeom prst="roundRect">
            <a:avLst>
              <a:gd name="adj" fmla="val 8929"/>
            </a:avLst>
          </a:prstGeom>
          <a:solidFill>
            <a:srgbClr val="FFF3DD"/>
          </a:solidFill>
          <a:ln w="10160">
            <a:solidFill>
              <a:srgbClr val="E5CB8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5925312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3B38"/>
                </a:solidFill>
              </a:rPr>
              <a:t>No. RM bukan sekadar kolom profil: ia menjadi pembatas akses data dan identitas pasien aktif.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TERSEDIA SETELAH NO. RM TERVERIFIKASI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Enam layanan medis personal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21792" y="1435608"/>
            <a:ext cx="5344668" cy="1112520"/>
          </a:xfrm>
          <a:prstGeom prst="roundRect">
            <a:avLst>
              <a:gd name="adj" fmla="val 6575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55448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Profil Pasien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1874520"/>
            <a:ext cx="505206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Identitas aman dari rekam medis rumah sakit.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112764" y="1435608"/>
            <a:ext cx="5344668" cy="1112520"/>
          </a:xfrm>
          <a:prstGeom prst="roundRect">
            <a:avLst>
              <a:gd name="adj" fmla="val 6575"/>
            </a:avLst>
          </a:prstGeom>
          <a:solidFill>
            <a:srgbClr val="FFFFFF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59068" y="155448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Riwayat Kunjungan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59068" y="1874520"/>
            <a:ext cx="505206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Rawat jalan, IGD, dan rawat inap.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21792" y="2685288"/>
            <a:ext cx="5344668" cy="1112520"/>
          </a:xfrm>
          <a:prstGeom prst="roundRect">
            <a:avLst>
              <a:gd name="adj" fmla="val 6575"/>
            </a:avLst>
          </a:prstGeom>
          <a:solidFill>
            <a:srgbClr val="EAF0F8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" y="280416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Diagnosis &amp; Tindakan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3124200"/>
            <a:ext cx="505206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Resume medis, ICD, tindakan, dan catatan.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6112764" y="2685288"/>
            <a:ext cx="5344668" cy="1112520"/>
          </a:xfrm>
          <a:prstGeom prst="roundRect">
            <a:avLst>
              <a:gd name="adj" fmla="val 6575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59068" y="280416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Hasil Lab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59068" y="3124200"/>
            <a:ext cx="505206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Order, hasil, rincian nilai, satuan, dan referensi.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21792" y="3934968"/>
            <a:ext cx="5344668" cy="1112520"/>
          </a:xfrm>
          <a:prstGeom prst="roundRect">
            <a:avLst>
              <a:gd name="adj" fmla="val 6575"/>
            </a:avLst>
          </a:prstGeom>
          <a:solidFill>
            <a:srgbClr val="FFFFFF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8096" y="405384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Hasil Radiologi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8096" y="4373880"/>
            <a:ext cx="505206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Pemeriksaan, resume, status, dan ekspertise.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6112764" y="3934968"/>
            <a:ext cx="5344668" cy="1112520"/>
          </a:xfrm>
          <a:prstGeom prst="roundRect">
            <a:avLst>
              <a:gd name="adj" fmla="val 6575"/>
            </a:avLst>
          </a:prstGeom>
          <a:solidFill>
            <a:srgbClr val="EAF0F8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59068" y="405384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Resep &amp; Obat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59068" y="4373880"/>
            <a:ext cx="505206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Riwayat farmasi dan rincian obat.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594360" y="5815584"/>
            <a:ext cx="10835640" cy="512064"/>
          </a:xfrm>
          <a:prstGeom prst="roundRect">
            <a:avLst>
              <a:gd name="adj" fmla="val 8929"/>
            </a:avLst>
          </a:prstGeom>
          <a:solidFill>
            <a:srgbClr val="FFF3DD"/>
          </a:solidFill>
          <a:ln w="10160">
            <a:solidFill>
              <a:srgbClr val="E5CB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5925312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3B38"/>
                </a:solidFill>
              </a:rPr>
              <a:t>Semua halaman menangani tiga keadaan: belum login, No. RM belum terhubung, dan data kosong/error/loading.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IDENTITAS DARI SISTEM REKAM MEDIS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Profil Pasien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621792" y="1481328"/>
            <a:ext cx="108356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23B38"/>
                </a:solidFill>
              </a:rPr>
              <a:t>Menampilkan pasien yang terhubung ke akun, bukan data pasien lain.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58368" y="2121408"/>
            <a:ext cx="10789920" cy="35295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Header menampilkan nama pasien dan No. RM aktif.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Bidang aman meliputi NIK, jenis kelamin, tanggal lahir, telepon, email, alamat, golongan darah, agama, dan status perkawinan—jika tersedia.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Pengguna tanpa No. RM mendapat penjelasan serta tombol “Hubungkan No. RM”.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Data dimuat dari profil pasien terautentikasi dan mendukung refresh.</a:t>
            </a:r>
            <a:endParaRPr lang="en-US" sz="1470" dirty="0"/>
          </a:p>
        </p:txBody>
      </p:sp>
      <p:sp>
        <p:nvSpPr>
          <p:cNvPr id="7" name="Shape 5"/>
          <p:cNvSpPr/>
          <p:nvPr/>
        </p:nvSpPr>
        <p:spPr>
          <a:xfrm>
            <a:off x="594360" y="5815584"/>
            <a:ext cx="10835640" cy="512064"/>
          </a:xfrm>
          <a:prstGeom prst="roundRect">
            <a:avLst>
              <a:gd name="adj" fmla="val 8929"/>
            </a:avLst>
          </a:prstGeom>
          <a:solidFill>
            <a:srgbClr val="FFF3DD"/>
          </a:solidFill>
          <a:ln w="10160">
            <a:solidFill>
              <a:srgbClr val="E5CB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5925312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3B38"/>
                </a:solidFill>
              </a:rPr>
              <a:t>Prinsip privasi: halaman hanya menggunakan endpoint profil pasien yang terkait dengan sesi login.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JEJAK REGISTRASI PASIEN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Riwayat Kunjungan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21792" y="1435608"/>
            <a:ext cx="5344668" cy="2286000"/>
          </a:xfrm>
          <a:prstGeom prst="roundRect">
            <a:avLst>
              <a:gd name="adj" fmla="val 3200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55448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Status mudah dipindai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1874520"/>
            <a:ext cx="50520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Badge membedakan rawat inap, nomor antrian, dan status pelayanan.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112764" y="1435608"/>
            <a:ext cx="53446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59068" y="155448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Empty state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59068" y="1874520"/>
            <a:ext cx="50520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Pesan khusus tampil ketika belum ada riwayat untuk No. RM tersebut.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658368" y="3922776"/>
            <a:ext cx="10789920" cy="23682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Menggabungkan kunjungan rawat jalan, IGD, dan rawat inap dari registrasi pasien.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Setiap kartu dapat menampilkan nomor registrasi/antrian, tanggal, poli, dokter, jenis pasien, pembayaran, dan status.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Kunjungan rawat inap menambahkan kelas, ruang, bed, dan tanggal mulai rawat jika tersedia.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Membuka detail kunjungan serta menyediakan akses ke Resume Medis PDF.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Maksimal 50 data terbaru dimuat pada permintaan halaman.</a:t>
            </a:r>
            <a:endParaRPr lang="en-US" sz="14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RINGKASAN PELAYANAN KLINIS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Diagnosis, tindakan &amp; Resume Medis PDF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658368" y="1435608"/>
            <a:ext cx="10789920" cy="4215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Diagnosis &amp; Tindakan menampilkan tanggal kunjungan, poli, dokter, diagnosis/ICD, tindakan, dan catatan klinis yang tersedia.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Setiap ringkasan dapat dibuka ke halaman detail dengan bidang yang lebih lengkap.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Resume Medis PDF memperlihatkan No. RM, registrasi, tanggal, poli, dan dokter sebelum dokumen dibuka.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Tombol “Lihat PDF” membuka dokumen melalui aplikasi PDF perangkat.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Tombol “Download” menyimpan berkas bernama resume-medis-[registrasi].pdf di penyimpanan aplikasi.</a:t>
            </a:r>
            <a:endParaRPr lang="en-US" sz="1470" dirty="0"/>
          </a:p>
        </p:txBody>
      </p:sp>
      <p:sp>
        <p:nvSpPr>
          <p:cNvPr id="6" name="Shape 4"/>
          <p:cNvSpPr/>
          <p:nvPr/>
        </p:nvSpPr>
        <p:spPr>
          <a:xfrm>
            <a:off x="594360" y="5815584"/>
            <a:ext cx="10835640" cy="512064"/>
          </a:xfrm>
          <a:prstGeom prst="roundRect">
            <a:avLst>
              <a:gd name="adj" fmla="val 8929"/>
            </a:avLst>
          </a:prstGeom>
          <a:solidFill>
            <a:srgbClr val="FFF3DD"/>
          </a:solidFill>
          <a:ln w="10160">
            <a:solidFill>
              <a:srgbClr val="E5CB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5925312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3B38"/>
                </a:solidFill>
              </a:rPr>
              <a:t>Dokumen PDF berasal dari ringkasan medis untuk registrasi terkait dan tetap mengikuti otorisasi akun pasien.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HASIL PEMERIKSAAN &amp; NILAI RUJUKAN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Hasil Laboratorium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21792" y="1435608"/>
            <a:ext cx="5344668" cy="2286000"/>
          </a:xfrm>
          <a:prstGeom prst="roundRect">
            <a:avLst>
              <a:gd name="adj" fmla="val 3200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55448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Ringkas di daftar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1874520"/>
            <a:ext cx="50520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Nomor lab dan jumlah rincian membantu pengguna memilih pemeriksaan.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112764" y="1435608"/>
            <a:ext cx="53446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59068" y="155448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Detail terstruktur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59068" y="1874520"/>
            <a:ext cx="50520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Hasil dan rentang referensi disajikan per item pemeriksaan.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658368" y="3922776"/>
            <a:ext cx="10789920" cy="23682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Daftar menampilkan nomor laboratorium, kunjungan, poli/dokter, tanggal pemeriksaan, dan jumlah rincian.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Detail dapat memuat bagian/kategori, nama pemeriksaan, hasil teks atau angka, satuan, serta nilai referensi rendah–tinggi.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Informasi tambahan: waktu mulai/selesai, sampel, penanggung jawab, kesan, saran, diagnosis, dan pesan hasil bila tersedia.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Data disaring berdasarkan No. RM yang terhubung; tersedia loading, error, refresh, dan kondisi kosong.</a:t>
            </a:r>
            <a:endParaRPr lang="en-US" sz="14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PEMERIKSAAN, RESUME &amp; EKSPERTISE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Hasil Radiologi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658368" y="1435608"/>
            <a:ext cx="10789920" cy="4215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Daftar menampilkan jenis pemeriksaan, tanggal kunjungan, poli/dokter, status, dan nomor dokumen.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Status dinormalisasi agar mudah dibaca, termasuk penanda “Selesai” bila hasil sudah tersedia.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Detail mencakup catatan klinis, ringkasan hasil, ekspertise, tipe order, waktu pemeriksaan, dan waktu hasil.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Akses dibatasi pada pasien aktif; data kosong tidak menampilkan rekam medis pasien lain.</a:t>
            </a:r>
            <a:endParaRPr lang="en-US" sz="1470" dirty="0"/>
          </a:p>
        </p:txBody>
      </p:sp>
      <p:sp>
        <p:nvSpPr>
          <p:cNvPr id="6" name="Shape 4"/>
          <p:cNvSpPr/>
          <p:nvPr/>
        </p:nvSpPr>
        <p:spPr>
          <a:xfrm>
            <a:off x="594360" y="5815584"/>
            <a:ext cx="10835640" cy="512064"/>
          </a:xfrm>
          <a:prstGeom prst="roundRect">
            <a:avLst>
              <a:gd name="adj" fmla="val 8929"/>
            </a:avLst>
          </a:prstGeom>
          <a:solidFill>
            <a:srgbClr val="FFF3DD"/>
          </a:solidFill>
          <a:ln w="10160">
            <a:solidFill>
              <a:srgbClr val="E5CB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5925312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3B38"/>
                </a:solidFill>
              </a:rPr>
              <a:t>Sumber data menggabungkan order radiologi, hasil, detail resume, dan ekspertise yang terkait pasien.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RIWAYAT FARMASI PASIEN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Resep &amp; Obat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21792" y="1435608"/>
            <a:ext cx="5344668" cy="2286000"/>
          </a:xfrm>
          <a:prstGeom prst="roundRect">
            <a:avLst>
              <a:gd name="adj" fmla="val 3200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55448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Sumber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1874520"/>
            <a:ext cx="50520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Penjualan farmasi dan rincian obat yang terhubung ke registrasi pasien.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112764" y="1435608"/>
            <a:ext cx="53446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59068" y="155448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Proteksi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59068" y="1874520"/>
            <a:ext cx="50520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Login + No. RM terverifikasi menjadi syarat sebelum data diambil.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658368" y="3922776"/>
            <a:ext cx="10789920" cy="23682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Daftar resep menampilkan nomor resep, kunjungan, poli/dokter, tanggal, status, dan jumlah obat.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Rincian obat dapat berisi nama/kode obat, jumlah, satuan, dosis, cara pakai, informasi tambahan, dan catatan.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Penanda racikan dan kronis ditampilkan bila tersedia dari sumber data.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Halaman detail menyatukan informasi resep dan setiap item obat dalam tampilan yang mudah dipindai.</a:t>
            </a:r>
            <a:endParaRPr lang="en-US" sz="14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MEMBUAT PENDAFTARAN POLI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Booking / Antrian Umum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125712" y="1014984"/>
            <a:ext cx="2567354" cy="5413248"/>
          </a:xfrm>
          <a:prstGeom prst="roundRect">
            <a:avLst>
              <a:gd name="adj" fmla="val 4274"/>
            </a:avLst>
          </a:prstGeom>
          <a:solidFill>
            <a:srgbClr val="172D2B"/>
          </a:solidFill>
          <a:ln w="12700">
            <a:solidFill>
              <a:srgbClr val="172D2B"/>
            </a:solidFill>
            <a:prstDash val="solid"/>
          </a:ln>
          <a:effectLst>
            <a:outerShdw sx="100000" sy="100000" kx="0" ky="0" algn="bl" rotWithShape="0" blurRad="25400" dist="50800" dir="2700000">
              <a:srgbClr val="6A7775">
                <a:alpha val="22000"/>
              </a:srgbClr>
            </a:outerShdw>
          </a:effectLst>
        </p:spPr>
      </p:sp>
      <p:pic>
        <p:nvPicPr>
          <p:cNvPr id="6" name="Image 0" descr="D:\source\flutter\rs_mobile_otista_v1.0\docs\presentation_assets\08_form_boo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078992"/>
            <a:ext cx="2439338" cy="5285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481328"/>
            <a:ext cx="790956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23B38"/>
                </a:solidFill>
              </a:rPr>
              <a:t>Jalur umum hanya untuk akun yang sudah memiliki No. RM terhubung.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58368" y="2121408"/>
            <a:ext cx="7982712" cy="41696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Tab “Buat”: No. RM terisi otomatis dan tidak dapat diedit.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Pilih tanggal pemeriksaan dari kalender layanan, lalu pilih poli tujuan.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Aplikasi memuat ketersediaan jadwal/kuota dan daftar dokter untuk poli tersebut.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Jika dokter tersedia, dokter wajib dipilih sebelum “Buat Antrian”.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Tanggal tutup, poli kosong, atau dokter belum dipilih akan menghentikan submit dengan pesan yang jelas.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KONTROL SEBELUM DAN SESUDAH SUBMIT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Kalender, kuota &amp; history booking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125712" y="1014984"/>
            <a:ext cx="2567354" cy="5413248"/>
          </a:xfrm>
          <a:prstGeom prst="roundRect">
            <a:avLst>
              <a:gd name="adj" fmla="val 4274"/>
            </a:avLst>
          </a:prstGeom>
          <a:solidFill>
            <a:srgbClr val="172D2B"/>
          </a:solidFill>
          <a:ln w="12700">
            <a:solidFill>
              <a:srgbClr val="172D2B"/>
            </a:solidFill>
            <a:prstDash val="solid"/>
          </a:ln>
          <a:effectLst>
            <a:outerShdw sx="100000" sy="100000" kx="0" ky="0" algn="bl" rotWithShape="0" blurRad="25400" dist="50800" dir="2700000">
              <a:srgbClr val="6A7775">
                <a:alpha val="22000"/>
              </a:srgbClr>
            </a:outerShdw>
          </a:effectLst>
        </p:spPr>
      </p:sp>
      <p:pic>
        <p:nvPicPr>
          <p:cNvPr id="6" name="Image 0" descr="D:\source\flutter\rs_mobile_otista_v1.0\docs\presentation_assets\02_boo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078992"/>
            <a:ext cx="2439338" cy="5285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1435608"/>
            <a:ext cx="7982712" cy="4215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Kalender bulanan menandai tanggal buka/tutup beserta alasan; pengguna dapat berpindah bulan dan tahun.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Panel poli menampilkan kelompok antrian, kuota, kuota online, terisi, dan sisa bila tersedia.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Submit mengirim tanggal, poli, dokter, kelompok antrian, jenis pasien Umum, dan metode bayar Umum.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Respons “existing” ditangani sebagai antrian yang sudah ada—mencegah pengguna mengira perlu mengirim ulang.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Setelah berhasil, aplikasi berpindah ke tab “Saya” dan memuat ulang history semua tanggal.</a:t>
            </a:r>
            <a:endParaRPr lang="en-US" sz="1320" dirty="0"/>
          </a:p>
        </p:txBody>
      </p:sp>
      <p:sp>
        <p:nvSpPr>
          <p:cNvPr id="8" name="Shape 5"/>
          <p:cNvSpPr/>
          <p:nvPr/>
        </p:nvSpPr>
        <p:spPr>
          <a:xfrm>
            <a:off x="594360" y="5815584"/>
            <a:ext cx="8001000" cy="512064"/>
          </a:xfrm>
          <a:prstGeom prst="roundRect">
            <a:avLst>
              <a:gd name="adj" fmla="val 8929"/>
            </a:avLst>
          </a:prstGeom>
          <a:solidFill>
            <a:srgbClr val="FFF3DD"/>
          </a:solidFill>
          <a:ln w="10160">
            <a:solidFill>
              <a:srgbClr val="E5CB8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5925312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3B38"/>
                </a:solidFill>
              </a:rPr>
              <a:t>Tab “Saya” menampilkan nomor antrian, status, tanggal, poli, dokter, dan bidang registrasi lain yang tersedia.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SATU TOMBOL, DUA JALUR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Pusat pilihan antrian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125712" y="1014984"/>
            <a:ext cx="2567354" cy="5413248"/>
          </a:xfrm>
          <a:prstGeom prst="roundRect">
            <a:avLst>
              <a:gd name="adj" fmla="val 4274"/>
            </a:avLst>
          </a:prstGeom>
          <a:solidFill>
            <a:srgbClr val="172D2B"/>
          </a:solidFill>
          <a:ln w="12700">
            <a:solidFill>
              <a:srgbClr val="172D2B"/>
            </a:solidFill>
            <a:prstDash val="solid"/>
          </a:ln>
          <a:effectLst>
            <a:outerShdw sx="100000" sy="100000" kx="0" ky="0" algn="bl" rotWithShape="0" blurRad="25400" dist="50800" dir="2700000">
              <a:srgbClr val="6A7775">
                <a:alpha val="22000"/>
              </a:srgbClr>
            </a:outerShdw>
          </a:effectLst>
        </p:spPr>
      </p:sp>
      <p:pic>
        <p:nvPicPr>
          <p:cNvPr id="6" name="Image 0" descr="D:\source\flutter\rs_mobile_otista_v1.0\docs\presentation_assets\03_pilih_antr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078992"/>
            <a:ext cx="2439338" cy="52852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" y="1435608"/>
            <a:ext cx="3941064" cy="2286000"/>
          </a:xfrm>
          <a:prstGeom prst="roundRect">
            <a:avLst>
              <a:gd name="adj" fmla="val 3200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8096" y="1554480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Registrasi Umum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8096" y="1874520"/>
            <a:ext cx="364845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Membuka halaman Antrian Umum di aplikasi untuk pendaftaran poli dengan No. RM.</a:t>
            </a:r>
            <a:endParaRPr lang="en-US" sz="1230" dirty="0"/>
          </a:p>
        </p:txBody>
      </p:sp>
      <p:sp>
        <p:nvSpPr>
          <p:cNvPr id="10" name="Shape 7"/>
          <p:cNvSpPr/>
          <p:nvPr/>
        </p:nvSpPr>
        <p:spPr>
          <a:xfrm>
            <a:off x="4709160" y="1435608"/>
            <a:ext cx="39410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55464" y="1554480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Antrian BPJS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55464" y="1874520"/>
            <a:ext cx="364845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Membuka Mobile JKN; bila belum terpasang, diarahkan ke Play Store.</a:t>
            </a:r>
            <a:endParaRPr lang="en-US" sz="1230" dirty="0"/>
          </a:p>
        </p:txBody>
      </p:sp>
      <p:sp>
        <p:nvSpPr>
          <p:cNvPr id="13" name="Text 10"/>
          <p:cNvSpPr/>
          <p:nvPr/>
        </p:nvSpPr>
        <p:spPr>
          <a:xfrm>
            <a:off x="658368" y="3922776"/>
            <a:ext cx="7982712" cy="23682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Pemisahan jalur mencegah booking BPJS dibuat melalui proses umum.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Jika Mobile JKN/Play Store tidak bisa dibuka, aplikasi menampilkan notifikasi kegagalan.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Ketentuan pada form kembali mengingatkan pengguna agar tidak membuat booking ganda.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DIREKTORI PUBLIK TANPA LOGIN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Poli, dokter &amp; jadwal praktik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125712" y="1014984"/>
            <a:ext cx="2567354" cy="5413248"/>
          </a:xfrm>
          <a:prstGeom prst="roundRect">
            <a:avLst>
              <a:gd name="adj" fmla="val 4274"/>
            </a:avLst>
          </a:prstGeom>
          <a:solidFill>
            <a:srgbClr val="172D2B"/>
          </a:solidFill>
          <a:ln w="12700">
            <a:solidFill>
              <a:srgbClr val="172D2B"/>
            </a:solidFill>
            <a:prstDash val="solid"/>
          </a:ln>
          <a:effectLst>
            <a:outerShdw sx="100000" sy="100000" kx="0" ky="0" algn="bl" rotWithShape="0" blurRad="25400" dist="50800" dir="2700000">
              <a:srgbClr val="6A7775">
                <a:alpha val="22000"/>
              </a:srgbClr>
            </a:outerShdw>
          </a:effectLst>
        </p:spPr>
      </p:sp>
      <p:pic>
        <p:nvPicPr>
          <p:cNvPr id="6" name="Image 0" descr="D:\source\flutter\rs_mobile_otista_v1.0\docs\presentation_assets\04_poli_jadw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078992"/>
            <a:ext cx="2439338" cy="5285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1435608"/>
            <a:ext cx="7982712" cy="4215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Pencarian berdasarkan nama poli atau kode ruangan; header menunjukkan jumlah tampil dan total.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Kartu poli menampilkan kode/ruangan, jam layanan, hari praktik, status praktik, kuota, terisi, dan sisa.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Detail poli memuat status layanan, kode BPJS/Inhealth, kelas, kelompok, lantai, dan keterangan.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Bagian “Dokter dan Jadwal” menggabungkan jadwal poli dengan daftar dokter terkait.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Detail dokter dapat menampilkan nama, kode antrian, jabatan, poli, kuota, status, serta seluruh jadwal praktik.</a:t>
            </a:r>
            <a:endParaRPr lang="en-US" sz="1320" dirty="0"/>
          </a:p>
        </p:txBody>
      </p:sp>
      <p:sp>
        <p:nvSpPr>
          <p:cNvPr id="8" name="Shape 5"/>
          <p:cNvSpPr/>
          <p:nvPr/>
        </p:nvSpPr>
        <p:spPr>
          <a:xfrm>
            <a:off x="594360" y="5815584"/>
            <a:ext cx="8001000" cy="512064"/>
          </a:xfrm>
          <a:prstGeom prst="roundRect">
            <a:avLst>
              <a:gd name="adj" fmla="val 8929"/>
            </a:avLst>
          </a:prstGeom>
          <a:solidFill>
            <a:srgbClr val="FFF3DD"/>
          </a:solidFill>
          <a:ln w="10160">
            <a:solidFill>
              <a:srgbClr val="E5CB8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5925312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3B38"/>
                </a:solidFill>
              </a:rPr>
              <a:t>Snapshot emulator menampilkan 49 poli; jumlah ini dinamis mengikuti data server.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INFORMASI BED PUBLIK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Ketersediaan Kamar Rawat Inap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21792" y="1435608"/>
            <a:ext cx="5344668" cy="2286000"/>
          </a:xfrm>
          <a:prstGeom prst="roundRect">
            <a:avLst>
              <a:gd name="adj" fmla="val 3200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55448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Sumber utama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1874520"/>
            <a:ext cx="50520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Endpoint mobile ketersediaan kamar.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112764" y="1435608"/>
            <a:ext cx="53446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59068" y="155448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Fallback data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59068" y="1874520"/>
            <a:ext cx="50520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Pengaturan ketersediaan kamar rumah sakit bila diperlukan.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658368" y="3922776"/>
            <a:ext cx="10789920" cy="23682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Pencarian berdasarkan kode, kelas, atau ruangan.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Data dikelompokkan per kelas rawat inap dan hanya kelompok aktif yang dihitung.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Ringkasan menampilkan grup aktif, total bed, bed terisi, bed kosong, dan renovasi bila ada.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Detail memperlihatkan kode umum, kelas, ruangan, jumlah kamar, jumlah bed, status aktif, dan keterangan.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Angka bersifat operasional dan dapat berubah mengikuti kondisi rawat inap.</a:t>
            </a:r>
            <a:endParaRPr lang="en-US" sz="14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KONTEN PUBLIK DI BERANDA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Informasi RS — profil, visi, dan jam layanan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21792" y="1435608"/>
            <a:ext cx="5344668" cy="1737360"/>
          </a:xfrm>
          <a:prstGeom prst="roundRect">
            <a:avLst>
              <a:gd name="adj" fmla="val 4211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55448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Profil 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1874520"/>
            <a:ext cx="50520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RSUD Oto Iskandar Di Nata Kabupaten Bandung; layanan utama mencakup IGD, rawat jalan, dan rawat inap.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112764" y="1435608"/>
            <a:ext cx="53446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59068" y="155448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Visi &amp; misi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59068" y="1874520"/>
            <a:ext cx="50520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Mendukung Bandung BEDAS menuju Indonesia Emas; fokus pada peningkatan kualitas pelayanan kesehatan.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21792" y="3310128"/>
            <a:ext cx="5344668" cy="1737360"/>
          </a:xfrm>
          <a:prstGeom prst="roundRect">
            <a:avLst>
              <a:gd name="adj" fmla="val 4211"/>
            </a:avLst>
          </a:prstGeom>
          <a:solidFill>
            <a:srgbClr val="EAF0F8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" y="342900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Budaya MANTAP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3749040"/>
            <a:ext cx="50520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Melayani, Akuntabel, Nyaman, Terdepan, Amanah, Profesional.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6112764" y="3310128"/>
            <a:ext cx="5344668" cy="1737360"/>
          </a:xfrm>
          <a:prstGeom prst="roundRect">
            <a:avLst>
              <a:gd name="adj" fmla="val 4211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59068" y="342900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Jam layanan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59068" y="3749040"/>
            <a:ext cx="50520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Rawat jalan/poliklinik Senin–Sabtu 08.00–14.00 WIB; IGD dan pendaftaran rawat inap 24 jam.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594360" y="5815584"/>
            <a:ext cx="10835640" cy="512064"/>
          </a:xfrm>
          <a:prstGeom prst="roundRect">
            <a:avLst>
              <a:gd name="adj" fmla="val 8929"/>
            </a:avLst>
          </a:prstGeom>
          <a:solidFill>
            <a:srgbClr val="FFF3DD"/>
          </a:solidFill>
          <a:ln w="10160">
            <a:solidFill>
              <a:srgbClr val="E5CB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5925312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3B38"/>
                </a:solidFill>
              </a:rPr>
              <a:t>Konten ini disajikan melalui lembar informasi ringkas dan dapat ditutup tanpa meninggalkan aplikasi.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TAUTAN KE KANAL RESMI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Informasi RS — alamat, kontak &amp; fasilitas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21792" y="1435608"/>
            <a:ext cx="3514344" cy="2286000"/>
          </a:xfrm>
          <a:prstGeom prst="roundRect">
            <a:avLst>
              <a:gd name="adj" fmla="val 3200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554480"/>
            <a:ext cx="322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Alamat 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1874520"/>
            <a:ext cx="322173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Jl. Raya Gading Tutuka, Desa Cingcin, Kec. Soreang, Kab. Bandung, Jawa Barat — tombol membuka Maps.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4282440" y="1435608"/>
            <a:ext cx="351434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28744" y="1554480"/>
            <a:ext cx="322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Kontak 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28744" y="1874520"/>
            <a:ext cx="322173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Website, email rsudotista@bandungkab.go.id, telepon (022) 5891355, dan WhatsApp 0811-965-1010.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7943088" y="1435608"/>
            <a:ext cx="3514344" cy="2286000"/>
          </a:xfrm>
          <a:prstGeom prst="roundRect">
            <a:avLst>
              <a:gd name="adj" fmla="val 3200"/>
            </a:avLst>
          </a:prstGeom>
          <a:solidFill>
            <a:srgbClr val="EAF0F8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89392" y="1554480"/>
            <a:ext cx="322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Fasilitas 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89392" y="1874520"/>
            <a:ext cx="322173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IGD, rawat jalan/khusus, rawat inap, ruang tunggu, meja layanan, tempat ibadah, toilet, ruang laktasi, kursi roda, evakuasi, CCTV, dan pendukung lain.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58368" y="3922776"/>
            <a:ext cx="10789920" cy="23682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Tautan dibuka dengan aplikasi eksternal yang sesuai: browser, Maps, email, telepon, atau WhatsApp.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Jika aplikasi eksternal gagal dibuka, SIPANTES menampilkan pesan kegagalan.</a:t>
            </a:r>
            <a:endParaRPr lang="en-US" sz="14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KENDALI IDENTITAS PENGGUNA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Profil &amp; pengelolaan akun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21792" y="1435608"/>
            <a:ext cx="5344668" cy="1074420"/>
          </a:xfrm>
          <a:prstGeom prst="roundRect">
            <a:avLst>
              <a:gd name="adj" fmla="val 6809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55448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Status akun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1874520"/>
            <a:ext cx="505206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Nama, email, telepon, status “Akun aktif”, dan status No. RM.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112764" y="1435608"/>
            <a:ext cx="5344668" cy="107442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59068" y="155448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No. RM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59068" y="1874520"/>
            <a:ext cx="505206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Menu berubah menjadi “Hubungkan No. RM” atau “Ubah No. RM”.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21792" y="2647188"/>
            <a:ext cx="5344668" cy="1074420"/>
          </a:xfrm>
          <a:prstGeom prst="roundRect">
            <a:avLst>
              <a:gd name="adj" fmla="val 6809"/>
            </a:avLst>
          </a:prstGeom>
          <a:solidFill>
            <a:srgbClr val="EAF0F8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" y="276606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Privasi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3086100"/>
            <a:ext cx="505206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Membuka kebijakan privasi resmi melalui browser eksternal.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6112764" y="2647188"/>
            <a:ext cx="5344668" cy="1074420"/>
          </a:xfrm>
          <a:prstGeom prst="roundRect">
            <a:avLst>
              <a:gd name="adj" fmla="val 6809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59068" y="276606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Logout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59068" y="3086100"/>
            <a:ext cx="505206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Meminta konfirmasi; sesi perangkat dibersihkan dan layanan personal harus login kembali.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58368" y="3922776"/>
            <a:ext cx="10789920" cy="1728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Mode tamu menyediakan tombol Login Akun dan Registrasi Akun Baru.</a:t>
            </a:r>
            <a:endParaRPr lang="en-US" sz="1470" dirty="0"/>
          </a:p>
          <a:p>
            <a:pPr marL="186690" indent="-186690">
              <a:lnSpc>
                <a:spcPct val="95000"/>
              </a:lnSpc>
              <a:buSzPct val="100000"/>
              <a:buChar char="•"/>
            </a:pPr>
            <a:r>
              <a:rPr lang="en-US" sz="1470" dirty="0">
                <a:solidFill>
                  <a:srgbClr val="123B38"/>
                </a:solidFill>
              </a:rPr>
              <a:t>Mode tamu juga menampilkan akses informasi Dokter &amp; Poli, Tarif Layanan, Kamar, Privasi, serta Penghapusan Akun.</a:t>
            </a:r>
            <a:endParaRPr lang="en-US" sz="1470" dirty="0"/>
          </a:p>
        </p:txBody>
      </p:sp>
      <p:sp>
        <p:nvSpPr>
          <p:cNvPr id="18" name="Shape 16"/>
          <p:cNvSpPr/>
          <p:nvPr/>
        </p:nvSpPr>
        <p:spPr>
          <a:xfrm>
            <a:off x="594360" y="5815584"/>
            <a:ext cx="10835640" cy="512064"/>
          </a:xfrm>
          <a:prstGeom prst="roundRect">
            <a:avLst>
              <a:gd name="adj" fmla="val 8929"/>
            </a:avLst>
          </a:prstGeom>
          <a:solidFill>
            <a:srgbClr val="FFF3DD"/>
          </a:solidFill>
          <a:ln w="10160">
            <a:solidFill>
              <a:srgbClr val="E5CB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5925312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3B38"/>
                </a:solidFill>
              </a:rPr>
              <a:t>Deck ini tidak menampilkan screenshot profil akun agar email dan nomor telepon pengguna uji tidak ikut tersebar.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ALUR PERMANEN DENGAN VERIFIKASI BERLAPIS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Penghapusan akun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125712" y="1014984"/>
            <a:ext cx="2567354" cy="5413248"/>
          </a:xfrm>
          <a:prstGeom prst="roundRect">
            <a:avLst>
              <a:gd name="adj" fmla="val 4274"/>
            </a:avLst>
          </a:prstGeom>
          <a:solidFill>
            <a:srgbClr val="172D2B"/>
          </a:solidFill>
          <a:ln w="12700">
            <a:solidFill>
              <a:srgbClr val="172D2B"/>
            </a:solidFill>
            <a:prstDash val="solid"/>
          </a:ln>
          <a:effectLst>
            <a:outerShdw sx="100000" sy="100000" kx="0" ky="0" algn="bl" rotWithShape="0" blurRad="25400" dist="50800" dir="2700000">
              <a:srgbClr val="6A7775">
                <a:alpha val="22000"/>
              </a:srgbClr>
            </a:outerShdw>
          </a:effectLst>
        </p:spPr>
      </p:sp>
      <p:pic>
        <p:nvPicPr>
          <p:cNvPr id="6" name="Image 0" descr="D:\source\flutter\rs_mobile_otista_v1.0\docs\presentation_assets\07_hapus_ak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078992"/>
            <a:ext cx="2439338" cy="5285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1435608"/>
            <a:ext cx="7982712" cy="4215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Masukkan password akun untuk meminta OTP penghapusan.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Masukkan OTP email 6 digit yang berlaku 5 menit.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Dialog terakhir meminta konfirmasi “Ya, Hapus Akun”.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Yang dihapus/dianonimkan: identitas akun mobile, hubungan No. RM, kredensial, OTP, dan semua sesi login.</a:t>
            </a:r>
            <a:endParaRPr lang="en-US" sz="1320" dirty="0"/>
          </a:p>
          <a:p>
            <a:pPr marL="167640" indent="-167640">
              <a:lnSpc>
                <a:spcPct val="95000"/>
              </a:lnSpc>
              <a:buSzPct val="100000"/>
              <a:buChar char="•"/>
            </a:pPr>
            <a:r>
              <a:rPr lang="en-US" sz="1320" dirty="0">
                <a:solidFill>
                  <a:srgbClr val="123B38"/>
                </a:solidFill>
              </a:rPr>
              <a:t>Yang tidak dihapus: rekam medis, hasil pemeriksaan, resep, pendaftaran, antrian, dan catatan pelayanan kesehatan.</a:t>
            </a:r>
            <a:endParaRPr lang="en-US" sz="1320" dirty="0"/>
          </a:p>
        </p:txBody>
      </p:sp>
      <p:sp>
        <p:nvSpPr>
          <p:cNvPr id="8" name="Shape 5"/>
          <p:cNvSpPr/>
          <p:nvPr/>
        </p:nvSpPr>
        <p:spPr>
          <a:xfrm>
            <a:off x="594360" y="5815584"/>
            <a:ext cx="8001000" cy="512064"/>
          </a:xfrm>
          <a:prstGeom prst="roundRect">
            <a:avLst>
              <a:gd name="adj" fmla="val 8929"/>
            </a:avLst>
          </a:prstGeom>
          <a:solidFill>
            <a:srgbClr val="FFF3DD"/>
          </a:solidFill>
          <a:ln w="10160">
            <a:solidFill>
              <a:srgbClr val="E5CB8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5925312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3B38"/>
                </a:solidFill>
              </a:rPr>
              <a:t>Tersedia juga halaman penghapusan akun publik melalui situs resmi untuk pengguna yang tidak sedang login.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STATE, VALIDASI &amp; PEMULIHAN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Keandalan pengalaman pengguna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21792" y="1435608"/>
            <a:ext cx="5344668" cy="1341120"/>
          </a:xfrm>
          <a:prstGeom prst="roundRect">
            <a:avLst>
              <a:gd name="adj" fmla="val 5455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55448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Loading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1874520"/>
            <a:ext cx="505206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Indikator khusus saat memuat layanan, jadwal, kalender, history, atau membuat antrian.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112764" y="1435608"/>
            <a:ext cx="5344668" cy="13411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59068" y="155448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Error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59068" y="1874520"/>
            <a:ext cx="505206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Pesan server/jaringan ditampilkan dengan aksi Muat Ulang atau refresh bila relevan.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21792" y="2913888"/>
            <a:ext cx="5344668" cy="1341120"/>
          </a:xfrm>
          <a:prstGeom prst="roundRect">
            <a:avLst>
              <a:gd name="adj" fmla="val 5455"/>
            </a:avLst>
          </a:prstGeom>
          <a:solidFill>
            <a:srgbClr val="EAF0F8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" y="303276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Empty state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3352800"/>
            <a:ext cx="505206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Pesan yang spesifik untuk kunjungan, hasil, resep, antrian, poli, dan kamar tanpa data.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6112764" y="2913888"/>
            <a:ext cx="5344668" cy="1341120"/>
          </a:xfrm>
          <a:prstGeom prst="roundRect">
            <a:avLst>
              <a:gd name="adj" fmla="val 5455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59068" y="303276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Session expired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59068" y="3352800"/>
            <a:ext cx="505206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API menyiarkan sesi berakhir; token dibersihkan dan pengguna perlu login ulang.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21792" y="4392168"/>
            <a:ext cx="5344668" cy="13411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8096" y="451104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Validasi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8096" y="4831080"/>
            <a:ext cx="505206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OTP 6 digit, NIK 16 digit, password 8–72 karakter, tanggal buka, poli, serta dokter.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6112764" y="4392168"/>
            <a:ext cx="5344668" cy="1341120"/>
          </a:xfrm>
          <a:prstGeom prst="roundRect">
            <a:avLst>
              <a:gd name="adj" fmla="val 5455"/>
            </a:avLst>
          </a:prstGeom>
          <a:solidFill>
            <a:srgbClr val="EAF0F8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59068" y="451104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Refresh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59068" y="4831080"/>
            <a:ext cx="505206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Pull-to-refresh digunakan pada beranda, layanan personal, direktori, dan history.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ALUR END-TO-END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Tiga perjalanan pengguna utama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21792" y="1435608"/>
            <a:ext cx="3514344" cy="3611880"/>
          </a:xfrm>
          <a:prstGeom prst="roundRect">
            <a:avLst>
              <a:gd name="adj" fmla="val 2082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554480"/>
            <a:ext cx="322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A — Pengunjung publik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1874520"/>
            <a:ext cx="3221736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Buka aplikasi → cari Poli &amp; Jadwal / Kamar / informasi RS → buka Maps, website, atau kontak resmi.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4282440" y="1435608"/>
            <a:ext cx="3514344" cy="361188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28744" y="1554480"/>
            <a:ext cx="322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B — Pasien baru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28744" y="1874520"/>
            <a:ext cx="3221736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Registrasi + OTP → login + OTP → hubungkan No. RM + OTP → buka layanan medis personal.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7943088" y="1435608"/>
            <a:ext cx="3514344" cy="3611880"/>
          </a:xfrm>
          <a:prstGeom prst="roundRect">
            <a:avLst>
              <a:gd name="adj" fmla="val 2082"/>
            </a:avLst>
          </a:prstGeom>
          <a:solidFill>
            <a:srgbClr val="EAF0F8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89392" y="1554480"/>
            <a:ext cx="322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C — Booking umum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89392" y="1874520"/>
            <a:ext cx="3221736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Login → No. RM terhubung → pilih tanggal → poli → dokter → Buat Antrian → lihat tab Saya/history.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594360" y="5815584"/>
            <a:ext cx="10835640" cy="512064"/>
          </a:xfrm>
          <a:prstGeom prst="roundRect">
            <a:avLst>
              <a:gd name="adj" fmla="val 8929"/>
            </a:avLst>
          </a:prstGeom>
          <a:solidFill>
            <a:srgbClr val="FFF3DD"/>
          </a:solidFill>
          <a:ln w="10160">
            <a:solidFill>
              <a:srgbClr val="E5CB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5925312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3B38"/>
                </a:solidFill>
              </a:rPr>
              <a:t>Untuk pasien BPJS: tombol Antrian → Antrian BPJS → lanjutkan proses di Mobile JKN.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16 PINTASAN BERANDA + FITUR AKUN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Matriks kelengkapan fitur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21792" y="1481328"/>
            <a:ext cx="5285232" cy="393192"/>
          </a:xfrm>
          <a:prstGeom prst="roundRect">
            <a:avLst>
              <a:gd name="adj" fmla="val 9302"/>
            </a:avLst>
          </a:prstGeom>
          <a:solidFill>
            <a:srgbClr val="E7F5F2"/>
          </a:solidFill>
          <a:ln w="6350">
            <a:solidFill>
              <a:srgbClr val="D8E1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58191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4A45"/>
                </a:solidFill>
              </a:rPr>
              <a:t>Profil Pasien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3712464" y="158191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07874"/>
                </a:solidFill>
              </a:rPr>
              <a:t>Login + No. RM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1792" y="1984248"/>
            <a:ext cx="5285232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D8E1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208483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4A45"/>
                </a:solidFill>
              </a:rPr>
              <a:t>Riwayat Kunjungan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3712464" y="208483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07874"/>
                </a:solidFill>
              </a:rPr>
              <a:t>Login + No. RM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21792" y="2487168"/>
            <a:ext cx="5285232" cy="393192"/>
          </a:xfrm>
          <a:prstGeom prst="roundRect">
            <a:avLst>
              <a:gd name="adj" fmla="val 9302"/>
            </a:avLst>
          </a:prstGeom>
          <a:solidFill>
            <a:srgbClr val="E7F5F2"/>
          </a:solidFill>
          <a:ln w="6350">
            <a:solidFill>
              <a:srgbClr val="D8E1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258775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4A45"/>
                </a:solidFill>
              </a:rPr>
              <a:t>Diagnosis &amp; Tindakan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3712464" y="258775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07874"/>
                </a:solidFill>
              </a:rPr>
              <a:t>Login + No. RM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21792" y="2990088"/>
            <a:ext cx="5285232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D8E1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" y="309067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4A45"/>
                </a:solidFill>
              </a:rPr>
              <a:t>Hasil Lab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3712464" y="309067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07874"/>
                </a:solidFill>
              </a:rPr>
              <a:t>Login + No. RM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21792" y="3493008"/>
            <a:ext cx="5285232" cy="393192"/>
          </a:xfrm>
          <a:prstGeom prst="roundRect">
            <a:avLst>
              <a:gd name="adj" fmla="val 9302"/>
            </a:avLst>
          </a:prstGeom>
          <a:solidFill>
            <a:srgbClr val="E7F5F2"/>
          </a:solidFill>
          <a:ln w="6350">
            <a:solidFill>
              <a:srgbClr val="D8E1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359359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4A45"/>
                </a:solidFill>
              </a:rPr>
              <a:t>Hasil Radiologi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3712464" y="359359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07874"/>
                </a:solidFill>
              </a:rPr>
              <a:t>Login + No. RM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21792" y="3995928"/>
            <a:ext cx="5285232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D8E1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409651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4A45"/>
                </a:solidFill>
              </a:rPr>
              <a:t>Resep &amp; Obat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3712464" y="409651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07874"/>
                </a:solidFill>
              </a:rPr>
              <a:t>Login + No. RM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1792" y="4498848"/>
            <a:ext cx="5285232" cy="393192"/>
          </a:xfrm>
          <a:prstGeom prst="roundRect">
            <a:avLst>
              <a:gd name="adj" fmla="val 9302"/>
            </a:avLst>
          </a:prstGeom>
          <a:solidFill>
            <a:srgbClr val="E7F5F2"/>
          </a:solidFill>
          <a:ln w="6350">
            <a:solidFill>
              <a:srgbClr val="D8E1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459943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4A45"/>
                </a:solidFill>
              </a:rPr>
              <a:t>Poli &amp; Jadwal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3712464" y="459943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07874"/>
                </a:solidFill>
              </a:rPr>
              <a:t>Publik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21792" y="5001768"/>
            <a:ext cx="5285232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D8E1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" y="510235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4A45"/>
                </a:solidFill>
              </a:rPr>
              <a:t>Nomor Antrian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3712464" y="510235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07874"/>
                </a:solidFill>
              </a:rPr>
              <a:t>Login + No. RM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153912" y="1481328"/>
            <a:ext cx="5285232" cy="393192"/>
          </a:xfrm>
          <a:prstGeom prst="roundRect">
            <a:avLst>
              <a:gd name="adj" fmla="val 9302"/>
            </a:avLst>
          </a:prstGeom>
          <a:solidFill>
            <a:srgbClr val="E7F5F2"/>
          </a:solidFill>
          <a:ln w="6350">
            <a:solidFill>
              <a:srgbClr val="D8E1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2784" y="158191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4A45"/>
                </a:solidFill>
              </a:rPr>
              <a:t>Profil RS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9244584" y="158191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07874"/>
                </a:solidFill>
              </a:rPr>
              <a:t>Publik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6153912" y="1984248"/>
            <a:ext cx="5285232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D8E1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208483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4A45"/>
                </a:solidFill>
              </a:rPr>
              <a:t>Visi Misi RS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9244584" y="208483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07874"/>
                </a:solidFill>
              </a:rPr>
              <a:t>Publik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153912" y="2487168"/>
            <a:ext cx="5285232" cy="393192"/>
          </a:xfrm>
          <a:prstGeom prst="roundRect">
            <a:avLst>
              <a:gd name="adj" fmla="val 9302"/>
            </a:avLst>
          </a:prstGeom>
          <a:solidFill>
            <a:srgbClr val="E7F5F2"/>
          </a:solidFill>
          <a:ln w="6350">
            <a:solidFill>
              <a:srgbClr val="D8E1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2784" y="258775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4A45"/>
                </a:solidFill>
              </a:rPr>
              <a:t>Jam Layanan RS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9244584" y="258775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07874"/>
                </a:solidFill>
              </a:rPr>
              <a:t>Publik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6153912" y="2990088"/>
            <a:ext cx="5285232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D8E1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2784" y="309067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4A45"/>
                </a:solidFill>
              </a:rPr>
              <a:t>Alamat RS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9244584" y="309067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07874"/>
                </a:solidFill>
              </a:rPr>
              <a:t>Publik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153912" y="3493008"/>
            <a:ext cx="5285232" cy="393192"/>
          </a:xfrm>
          <a:prstGeom prst="roundRect">
            <a:avLst>
              <a:gd name="adj" fmla="val 9302"/>
            </a:avLst>
          </a:prstGeom>
          <a:solidFill>
            <a:srgbClr val="E7F5F2"/>
          </a:solidFill>
          <a:ln w="6350">
            <a:solidFill>
              <a:srgbClr val="D8E1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72784" y="359359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4A45"/>
                </a:solidFill>
              </a:rPr>
              <a:t>Kontak RS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9244584" y="359359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07874"/>
                </a:solidFill>
              </a:rPr>
              <a:t>Publik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6153912" y="3995928"/>
            <a:ext cx="5285232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D8E1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72784" y="409651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4A45"/>
                </a:solidFill>
              </a:rPr>
              <a:t>Fasilitas RS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9244584" y="409651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07874"/>
                </a:solidFill>
              </a:rPr>
              <a:t>Publik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6153912" y="4498848"/>
            <a:ext cx="5285232" cy="393192"/>
          </a:xfrm>
          <a:prstGeom prst="roundRect">
            <a:avLst>
              <a:gd name="adj" fmla="val 9302"/>
            </a:avLst>
          </a:prstGeom>
          <a:solidFill>
            <a:srgbClr val="E7F5F2"/>
          </a:solidFill>
          <a:ln w="6350">
            <a:solidFill>
              <a:srgbClr val="D8E1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2784" y="459943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4A45"/>
                </a:solidFill>
              </a:rPr>
              <a:t>Ketersediaan Kamar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9244584" y="459943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07874"/>
                </a:solidFill>
              </a:rPr>
              <a:t>Publik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6153912" y="5001768"/>
            <a:ext cx="5285232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D8E1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72784" y="510235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4A45"/>
                </a:solidFill>
              </a:rPr>
              <a:t>Pendaftaran Poli</a:t>
            </a:r>
            <a:endParaRPr lang="en-US" sz="1020" dirty="0"/>
          </a:p>
        </p:txBody>
      </p:sp>
      <p:sp>
        <p:nvSpPr>
          <p:cNvPr id="52" name="Text 50"/>
          <p:cNvSpPr/>
          <p:nvPr/>
        </p:nvSpPr>
        <p:spPr>
          <a:xfrm>
            <a:off x="9244584" y="510235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07874"/>
                </a:solidFill>
              </a:rPr>
              <a:t>Tab Booking / Antrian Umum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713232" y="5596128"/>
            <a:ext cx="1074420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34620" indent="-134620">
              <a:lnSpc>
                <a:spcPct val="95000"/>
              </a:lnSpc>
              <a:buSzPct val="100000"/>
              <a:buChar char="•"/>
            </a:pPr>
            <a:r>
              <a:rPr lang="en-US" sz="1060" dirty="0">
                <a:solidFill>
                  <a:srgbClr val="123B38"/>
                </a:solidFill>
              </a:rPr>
              <a:t>Fitur akun tambahan: login, registrasi, lupa password, klaim/ubah No. RM, privasi, logout, dan hapus akun.</a:t>
            </a:r>
            <a:endParaRPr lang="en-US" sz="1060" dirty="0"/>
          </a:p>
          <a:p>
            <a:pPr marL="134620" indent="-134620">
              <a:lnSpc>
                <a:spcPct val="95000"/>
              </a:lnSpc>
              <a:buSzPct val="100000"/>
              <a:buChar char="•"/>
            </a:pPr>
            <a:r>
              <a:rPr lang="en-US" sz="1060" dirty="0">
                <a:solidFill>
                  <a:srgbClr val="123B38"/>
                </a:solidFill>
              </a:rPr>
              <a:t>Fitur integrasi tambahan: Antrian BPJS → Mobile JKN dan Resume Medis PDF.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EB3A8"/>
                </a:solidFill>
              </a:rPr>
              <a:t>TRANSPARANSI BUILD YANG DIPRESENTASIKAN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A45"/>
                </a:solidFill>
              </a:rPr>
              <a:t>Catatan status implementasi saat ini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960120" cy="0"/>
          </a:xfrm>
          <a:prstGeom prst="line">
            <a:avLst/>
          </a:prstGeom>
          <a:noFill/>
          <a:ln w="50800">
            <a:solidFill>
              <a:srgbClr val="F0A51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21792" y="1435608"/>
            <a:ext cx="5344668" cy="1737360"/>
          </a:xfrm>
          <a:prstGeom prst="roundRect">
            <a:avLst>
              <a:gd name="adj" fmla="val 4211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55448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Tarif Layanan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1874520"/>
            <a:ext cx="50520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Muncul sebagai kartu pada mode tamu, tetapi belum memiliki aksi/halaman data khusus pada source saat ini.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112764" y="1435608"/>
            <a:ext cx="53446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59068" y="155448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Tagihan &amp; pembayaran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59068" y="1874520"/>
            <a:ext cx="50520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Disebut pada teks promosi login, namun tidak ada pintasan/halaman transaksi aktif dalam build ini.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21792" y="3310128"/>
            <a:ext cx="5344668" cy="1737360"/>
          </a:xfrm>
          <a:prstGeom prst="roundRect">
            <a:avLst>
              <a:gd name="adj" fmla="val 4211"/>
            </a:avLst>
          </a:prstGeom>
          <a:solidFill>
            <a:srgbClr val="EAF0F8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" y="342900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Pendaftaran Poli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3749040"/>
            <a:ext cx="50520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Tidak ditampilkan sebagai grid tersendiri; fungsinya tersedia melalui tab Booking dan pilihan Registrasi Umum.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6112764" y="3310128"/>
            <a:ext cx="5344668" cy="1737360"/>
          </a:xfrm>
          <a:prstGeom prst="roundRect">
            <a:avLst>
              <a:gd name="adj" fmla="val 4211"/>
            </a:avLst>
          </a:prstGeom>
          <a:solidFill>
            <a:srgbClr val="E7F5F2"/>
          </a:solidFill>
          <a:ln w="10160">
            <a:solidFill>
              <a:srgbClr val="D8E1DE"/>
            </a:solidFill>
            <a:prstDash val="solid"/>
          </a:ln>
          <a:effectLst>
            <a:outerShdw sx="100000" sy="100000" kx="0" ky="0" algn="bl" rotWithShape="0" blurRad="12700" dist="50800" dir="2700000">
              <a:srgbClr val="9DA9A7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59068" y="3429000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</a:rPr>
              <a:t>Data dinamis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59068" y="3749040"/>
            <a:ext cx="50520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B38"/>
                </a:solidFill>
              </a:rPr>
              <a:t>Jadwal, kuota, kamar, dan antrian mengikuti API dan dapat berubah dari snapshot emulator.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594360" y="5815584"/>
            <a:ext cx="10835640" cy="512064"/>
          </a:xfrm>
          <a:prstGeom prst="roundRect">
            <a:avLst>
              <a:gd name="adj" fmla="val 8929"/>
            </a:avLst>
          </a:prstGeom>
          <a:solidFill>
            <a:srgbClr val="FFF3DD"/>
          </a:solidFill>
          <a:ln w="10160">
            <a:solidFill>
              <a:srgbClr val="E5CB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5925312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3B38"/>
                </a:solidFill>
              </a:rPr>
              <a:t>Penandaan ini memastikan presentasi membedakan fitur operasional, pintasan alternatif, dan elemen yang masih informasional.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8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4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A45"/>
          </a:solidFill>
          <a:ln w="12700">
            <a:solidFill>
              <a:srgbClr val="0B4A45"/>
            </a:solidFill>
            <a:prstDash val="solid"/>
          </a:ln>
        </p:spPr>
      </p:sp>
      <p:pic>
        <p:nvPicPr>
          <p:cNvPr id="3" name="Image 0" descr="D:\source\flutter\rs_mobile_otista_v1.0\assets\images\otista\rsud_full_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658368"/>
            <a:ext cx="2240280" cy="841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828800"/>
            <a:ext cx="8531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SIPANTES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828800" y="2697480"/>
            <a:ext cx="8531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FD8D1"/>
                </a:solidFill>
              </a:rPr>
              <a:t>Informasi publik yang mudah diakses.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8FD8D1"/>
                </a:solidFill>
              </a:rPr>
              <a:t>Layanan pasien yang aman dan personal.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2011680" y="3977640"/>
            <a:ext cx="8165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RSUD Oto Iskandar Di Nata Kabupaten Bandung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0" y="4626864"/>
            <a:ext cx="670255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CE9"/>
                </a:solidFill>
              </a:rPr>
              <a:t>Website: rsudotista.bandungkab.go.id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8ECE9"/>
                </a:solidFill>
              </a:rPr>
              <a:t>Email: rsudotista@bandungkab.go.id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8ECE9"/>
                </a:solidFill>
              </a:rPr>
              <a:t>Telepon: (022) 5891355 • WhatsApp: 0811-965-1010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06240" y="5925312"/>
            <a:ext cx="3776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20" kern="0" dirty="0">
                <a:solidFill>
                  <a:srgbClr val="F0A51A"/>
                </a:solidFill>
              </a:rPr>
              <a:t>TERIMA KASIH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RSUD Oto Iskandar Di Nata Kabupaten Bandung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SIPANTES — Presentasi Fitur Lengkap</dc:title>
  <dc:subject>Presentasi lengkap fitur aplikasi SIPANTES</dc:subject>
  <dc:creator>RSUD Oto Iskandar Di Nata</dc:creator>
  <cp:lastModifiedBy>RSUD Oto Iskandar Di Nata</cp:lastModifiedBy>
  <cp:revision>1</cp:revision>
  <dcterms:created xsi:type="dcterms:W3CDTF">2026-10-05T13:00:53Z</dcterms:created>
  <dcterms:modified xsi:type="dcterms:W3CDTF">2026-10-05T13:00:53Z</dcterms:modified>
</cp:coreProperties>
</file>